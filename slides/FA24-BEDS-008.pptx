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ariant and distribution" id="{ee7db2cd-9736-755c-f2d2-1697cd1b9922}">
          <p14:sldIdLst>
            <p14:sldId id="256"/>
          </p14:sldIdLst>
        </p14:section>
        <p14:section name="Makeover" id="{5497c0bc-0de8-e6fa-b485-1f82be2c4d85}">
          <p14:sldIdLst>
            <p14:sldId id="257"/>
          </p14:sldIdLst>
        </p14:section>
        <p14:section name="Main finding" id="{8492c309-15cd-cc93-c424-c9bddb9952be}">
          <p14:sldIdLst>
            <p14:sldId id="258"/>
          </p14:sldIdLst>
        </p14:section>
        <p14:section name="Why it works" id="{d832dfee-98f3-5d5d-645c-88c5f97f1496}">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24"/>
                </a:solidFill>
                <a:latin typeface="+mn-lt"/>
              </a:defRPr>
            </a:pPr>
            <a:r>
              <a:rPr sz="1400" b="0" i="0" u="none" strike="noStrike">
                <a:solidFill>
                  <a:srgbClr val="1B2A24"/>
                </a:solidFill>
                <a:latin typeface="+mn-lt"/>
              </a:rPr>
              <a:t>Men minus women, weighted literacy rate (percentage points)</a:t>
            </a:r>
          </a:p>
        </c:rich>
      </c:tx>
      <c:layout/>
      <c:overlay val="0"/>
    </c:title>
    <c:autoTitleDeleted val="0"/>
    <c:plotArea>
      <c:layout/>
      <c:barChart>
        <c:barDir val="col"/>
        <c:grouping val="clustered"/>
        <c:varyColors val="0"/>
        <c:ser>
          <c:idx val="0"/>
          <c:order val="0"/>
          <c:tx>
            <c:strRef>
              <c:f>Sheet1!$B$1</c:f>
              <c:strCache>
                <c:ptCount val="1"/>
                <c:pt idx="0">
                  <c:v>Gap (percentage points)</c:v>
                </c:pt>
              </c:strCache>
            </c:strRef>
          </c:tx>
          <c:spPr>
            <a:solidFill>
              <a:srgbClr val="6FA58B"/>
            </a:solidFill>
            <a:effectLst/>
          </c:spPr>
          <c:invertIfNegative val="0"/>
          <c:dLbls>
            <c:numFmt formatCode="0.0" sourceLinked="0"/>
            <c:txPr>
              <a:bodyPr/>
              <a:lstStyle/>
              <a:p>
                <a:pPr>
                  <a:defRPr b="0" i="0" strike="noStrike" sz="1100" u="none">
                    <a:solidFill>
                      <a:srgbClr val="1B2A24"/>
                    </a:solidFill>
                    <a:latin typeface="+mn-lt"/>
                  </a:defRPr>
                </a:pPr>
              </a:p>
            </c:txPr>
            <c:showLegendKey val="0"/>
            <c:showVal val="1"/>
            <c:showCatName val="0"/>
            <c:showSerName val="0"/>
            <c:showPercent val="0"/>
            <c:showBubbleSize val="0"/>
            <c:showLeaderLines val="0"/>
          </c:dLbls>
          <c:dPt>
            <c:idx val="0"/>
            <c:invertIfNegative val="0"/>
            <c:bubble3D val="0"/>
            <c:spPr>
              <a:solidFill>
                <a:srgbClr val="6FA58B"/>
              </a:solidFill>
              <a:effectLst/>
            </c:spPr>
          </c:dPt>
          <c:dPt>
            <c:idx val="1"/>
            <c:invertIfNegative val="0"/>
            <c:bubble3D val="0"/>
            <c:spPr>
              <a:solidFill>
                <a:srgbClr val="6FA58B"/>
              </a:solidFill>
              <a:effectLst/>
            </c:spPr>
          </c:dPt>
          <c:dPt>
            <c:idx val="2"/>
            <c:invertIfNegative val="0"/>
            <c:bubble3D val="0"/>
            <c:spPr>
              <a:solidFill>
                <a:srgbClr val="6FA58B"/>
              </a:solidFill>
              <a:effectLst/>
            </c:spPr>
          </c:dPt>
          <c:dPt>
            <c:idx val="3"/>
            <c:invertIfNegative val="0"/>
            <c:bubble3D val="0"/>
            <c:spPr>
              <a:solidFill>
                <a:srgbClr val="6FA58B"/>
              </a:solidFill>
              <a:effectLst/>
            </c:spPr>
          </c:dPt>
          <c:dPt>
            <c:idx val="4"/>
            <c:invertIfNegative val="0"/>
            <c:bubble3D val="0"/>
            <c:spPr>
              <a:solidFill>
                <a:srgbClr val="6FA58B"/>
              </a:solidFill>
              <a:effectLst/>
            </c:spPr>
          </c:dPt>
          <c:dPt>
            <c:idx val="5"/>
            <c:invertIfNegative val="0"/>
            <c:bubble3D val="0"/>
            <c:spPr>
              <a:solidFill>
                <a:srgbClr val="6FA58B"/>
              </a:solidFill>
              <a:effectLst/>
            </c:spPr>
          </c:dPt>
          <c:dPt>
            <c:idx val="6"/>
            <c:invertIfNegative val="0"/>
            <c:bubble3D val="0"/>
            <c:spPr>
              <a:solidFill>
                <a:srgbClr val="6FA58B"/>
              </a:solidFill>
              <a:effectLst/>
            </c:spPr>
          </c:dPt>
          <c:dPt>
            <c:idx val="7"/>
            <c:invertIfNegative val="0"/>
            <c:bubble3D val="0"/>
            <c:spPr>
              <a:solidFill>
                <a:srgbClr val="6FA58B"/>
              </a:solidFill>
              <a:effectLst/>
            </c:spPr>
          </c:dPt>
          <c:dPt>
            <c:idx val="8"/>
            <c:invertIfNegative val="0"/>
            <c:bubble3D val="0"/>
            <c:spPr>
              <a:solidFill>
                <a:srgbClr val="6FA58B"/>
              </a:solidFill>
              <a:effectLst/>
            </c:spPr>
          </c:dPt>
          <c:dPt>
            <c:idx val="9"/>
            <c:invertIfNegative val="0"/>
            <c:bubble3D val="0"/>
            <c:spPr>
              <a:solidFill>
                <a:srgbClr val="E3A21A"/>
              </a:solidFill>
              <a:effectLst/>
            </c:spPr>
          </c:dPt>
          <c:dPt>
            <c:idx val="10"/>
            <c:invertIfNegative val="0"/>
            <c:bubble3D val="0"/>
            <c:spPr>
              <a:solidFill>
                <a:srgbClr val="6FA58B"/>
              </a:solidFill>
              <a:effectLst/>
            </c:spPr>
          </c:dPt>
          <c:cat>
            <c:multiLvlStrRef>
              <c:f>Sheet1!$A$2:$A$12</c:f>
              <c:multiLvlStrCache>
                <c:ptCount val="11"/>
                <c:lvl>
                  <c:pt idx="0">
                    <c:v>10–14</c:v>
                  </c:pt>
                  <c:pt idx="1">
                    <c:v>15–19</c:v>
                  </c:pt>
                  <c:pt idx="2">
                    <c:v>20–24</c:v>
                  </c:pt>
                  <c:pt idx="3">
                    <c:v>25–29</c:v>
                  </c:pt>
                  <c:pt idx="4">
                    <c:v>30–34</c:v>
                  </c:pt>
                  <c:pt idx="5">
                    <c:v>35–39</c:v>
                  </c:pt>
                  <c:pt idx="6">
                    <c:v>40–44</c:v>
                  </c:pt>
                  <c:pt idx="7">
                    <c:v>45–49</c:v>
                  </c:pt>
                  <c:pt idx="8">
                    <c:v>50–54</c:v>
                  </c:pt>
                  <c:pt idx="9">
                    <c:v>55–59</c:v>
                  </c:pt>
                  <c:pt idx="10">
                    <c:v>60–64</c:v>
                  </c:pt>
                </c:lvl>
              </c:multiLvlStrCache>
            </c:multiLvlStrRef>
          </c:cat>
          <c:val>
            <c:numRef>
              <c:f>Sheet1!$B$2:$B$12</c:f>
              <c:numCache>
                <c:formatCode>General</c:formatCode>
                <c:ptCount val="11"/>
                <c:pt idx="0">
                  <c:v>5.9</c:v>
                </c:pt>
                <c:pt idx="1">
                  <c:v>6.7</c:v>
                </c:pt>
                <c:pt idx="2">
                  <c:v>11.8</c:v>
                </c:pt>
                <c:pt idx="3">
                  <c:v>15.2</c:v>
                </c:pt>
                <c:pt idx="4">
                  <c:v>20.5</c:v>
                </c:pt>
                <c:pt idx="5">
                  <c:v>23.9</c:v>
                </c:pt>
                <c:pt idx="6">
                  <c:v>30.6</c:v>
                </c:pt>
                <c:pt idx="7">
                  <c:v>30.6</c:v>
                </c:pt>
                <c:pt idx="8">
                  <c:v>35.2</c:v>
                </c:pt>
                <c:pt idx="9">
                  <c:v>35.8</c:v>
                </c:pt>
                <c:pt idx="10">
                  <c:v>33.2</c:v>
                </c:pt>
              </c:numCache>
            </c:numRef>
          </c:val>
        </c:ser>
        <c:dLbls>
          <c:numFmt formatCode="0.0" sourceLinked="0"/>
          <c:txPr>
            <a:bodyPr/>
            <a:lstStyle/>
            <a:p>
              <a:pPr>
                <a:defRPr b="0" i="0" strike="noStrike" sz="1100" u="none">
                  <a:solidFill>
                    <a:srgbClr val="1B2A2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1B2A24"/>
                    </a:solidFill>
                    <a:latin typeface="+mn-lt"/>
                  </a:defRPr>
                </a:pPr>
                <a:r>
                  <a:rPr sz="1100" b="0" i="0" u="none" strike="noStrike">
                    <a:solidFill>
                      <a:srgbClr val="1B2A24"/>
                    </a:solidFill>
                    <a:latin typeface="+mn-lt"/>
                  </a:rPr>
                  <a:t>Age band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24"/>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D9E3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2A24"/>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I am Afifa Farooq, variant 0: rural Punjab, from PSLM 2019-20.
Of the students in my variant, 9,173 have positive education spending. Spending is very skewed, so I used a log scale: the weighted median is Rs 6,600, the 10th percentile Rs 2,000 and the 90th percentile Rs 30,000, a ratio of 15.00.
The unweighted median is Rs 7,000. The weighted one is lower because households that stand for more people spend a little less than the sample average suggests. 3 students fell outside Rs 100 to Rs 1,000,000 and were excluded.
Be ready to explain: the weighted quantile definition (sort by x, cumulative weight share, first x where it reaches p), and why the histogram axis is in log10 units but labelled in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Left: R's untouched default, literate (0 or 1) against age. 24,630 points sit on top of each other in two rows, so you cannot see how many people are literate at any age. That is overplotting.
Right: my redesign. I computed the weighted literacy rate for each five-year age band and each sex, plotted at the band midpoint, joined by lines, with the two series labelled directly instead of a legend.
The dashed line marks the band with the largest gap, ages 55-59: 35.8 percentage points. Hollow markers would flag bands with fewer than 30 observations; there are none, since the smallest cell has 412 persons.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This is my main finding. Among young people in rural Punjab, literacy is high and the gap is small: at 15-19 men are at 79.8% and women at 73.1%, a gap of 6.7 points.
The gap then grows band by band. At 55-59 men are at 50.8% and women at only 15.0%, the largest gap, 35.8 points. Every band has at least 412 persons, so no cell is thin.
Limits: one survey year cannot separate ageing from birth cohort, and it does not tell us why girls were less schooled.
Gaps are computed from the rounded band table, so they can differ by 0.1 from the unrounded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Three design choices, each tied to a principle from the course.
1) Conditional means: the default plots thousands of overlapping 0/1 points, so I replaced them with weighted literacy rates per age band and sex.
2) Direct labels instead of a legend: data-ink, nothing for the reader to look back at.
3) A common 0-100 scale with the largest gap annotated: position is the most accurately read channel, and the annotation points to the finding.
What it hides: the individual observations and their distribution.
Check: I reproduced the band table in Python, and women aged 15-19 come out at 73.1% in both R and Python.
Questions to prepare: how the age bands are built (R's cut with right = FALSE vs Python's age // 5 * 5), how the weighted mean is computed, and how to change a setting and rerun a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D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5303520" cy="164592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91440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Variant tag"/>
          <p:cNvSpPr txBox="1"/>
          <p:nvPr/>
        </p:nvSpPr>
        <p:spPr>
          <a:xfrm>
            <a:off x="548640" y="365760"/>
            <a:ext cx="3291840" cy="329184"/>
          </a:xfrm>
          <a:prstGeom prst="rect">
            <a:avLst/>
          </a:prstGeom>
          <a:solidFill>
            <a:schemeClr val="accent2"/>
          </a:solidFill>
          <a:ln/>
        </p:spPr>
        <p:txBody>
          <a:bodyPr wrap="square" rtlCol="0" anchor="ctr"/>
          <a:lstStyle/>
          <a:p>
            <a:pPr algn="ctr" indent="0" marL="0">
              <a:buNone/>
            </a:pPr>
            <a:r>
              <a:rPr lang="en-US" sz="1200" b="1" dirty="0">
                <a:solidFill>
                  <a:schemeClr val="tx2"/>
                </a:solidFill>
              </a:rPr>
              <a:t>VARIANT 0  ·  PUNJAB RURAL</a:t>
            </a:r>
            <a:endParaRPr lang="en-US" sz="1200" dirty="0"/>
          </a:p>
        </p:txBody>
      </p:sp>
      <p:sp>
        <p:nvSpPr>
          <p:cNvPr id="3" name="Text 0"/>
          <p:cNvSpPr/>
          <p:nvPr>
            <p:ph idx="100" type="title" hasCustomPrompt="1"/>
          </p:nvPr>
        </p:nvSpPr>
        <p:spPr>
          <a:xfrm>
            <a:off x="548640" y="822960"/>
            <a:ext cx="5303520" cy="16459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What rural Punjab families pay for a student’s education</a:t>
            </a:r>
            <a:endParaRPr lang="en-US" sz="3600" dirty="0"/>
          </a:p>
        </p:txBody>
      </p:sp>
      <p:sp>
        <p:nvSpPr>
          <p:cNvPr id="4" name="Byline"/>
          <p:cNvSpPr txBox="1"/>
          <p:nvPr/>
        </p:nvSpPr>
        <p:spPr>
          <a:xfrm>
            <a:off x="548640" y="2514600"/>
            <a:ext cx="5303520" cy="320040"/>
          </a:xfrm>
          <a:prstGeom prst="rect">
            <a:avLst/>
          </a:prstGeom>
          <a:noFill/>
          <a:ln/>
        </p:spPr>
        <p:txBody>
          <a:bodyPr wrap="square" lIns="0" tIns="0" rIns="0" bIns="0" rtlCol="0" anchor="ctr"/>
          <a:lstStyle/>
          <a:p>
            <a:pPr indent="0" marL="0">
              <a:buNone/>
            </a:pPr>
            <a:r>
              <a:rPr lang="en-US" sz="1400" dirty="0">
                <a:solidFill>
                  <a:srgbClr val="CFE0D6"/>
                </a:solidFill>
              </a:rPr>
              <a:t>PSLM 2019–20  ·  Afifa Farooq  ·  FA24-BEDS-008</a:t>
            </a:r>
            <a:endParaRPr lang="en-US" sz="1400" dirty="0"/>
          </a:p>
        </p:txBody>
      </p:sp>
      <p:sp>
        <p:nvSpPr>
          <p:cNvPr id="5" name="Stat 1"/>
          <p:cNvSpPr txBox="1"/>
          <p:nvPr/>
        </p:nvSpPr>
        <p:spPr>
          <a:xfrm>
            <a:off x="548640" y="3200400"/>
            <a:ext cx="2286000" cy="82296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9,173</a:t>
            </a:r>
            <a:endParaRPr lang="en-US" sz="3400" dirty="0"/>
          </a:p>
        </p:txBody>
      </p:sp>
      <p:sp>
        <p:nvSpPr>
          <p:cNvPr id="6" name="Stat label 1"/>
          <p:cNvSpPr txBox="1"/>
          <p:nvPr/>
        </p:nvSpPr>
        <p:spPr>
          <a:xfrm>
            <a:off x="2926080" y="3200400"/>
            <a:ext cx="2926080" cy="822960"/>
          </a:xfrm>
          <a:prstGeom prst="rect">
            <a:avLst/>
          </a:prstGeom>
          <a:noFill/>
          <a:ln/>
        </p:spPr>
        <p:txBody>
          <a:bodyPr wrap="square" lIns="0" tIns="0" rIns="0" bIns="0" rtlCol="0" anchor="ctr"/>
          <a:lstStyle/>
          <a:p>
            <a:pPr indent="0" marL="0">
              <a:buNone/>
            </a:pPr>
            <a:r>
              <a:rPr lang="en-US" sz="1400" dirty="0">
                <a:solidFill>
                  <a:schemeClr val="bg1"/>
                </a:solidFill>
              </a:rPr>
              <a:t>students with positive education spending</a:t>
            </a:r>
            <a:endParaRPr lang="en-US" sz="1400" dirty="0"/>
          </a:p>
        </p:txBody>
      </p:sp>
      <p:sp>
        <p:nvSpPr>
          <p:cNvPr id="7" name="Stat 2"/>
          <p:cNvSpPr txBox="1"/>
          <p:nvPr/>
        </p:nvSpPr>
        <p:spPr>
          <a:xfrm>
            <a:off x="548640" y="4224528"/>
            <a:ext cx="2286000" cy="82296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Rs 6,600</a:t>
            </a:r>
            <a:endParaRPr lang="en-US" sz="3400" dirty="0"/>
          </a:p>
        </p:txBody>
      </p:sp>
      <p:sp>
        <p:nvSpPr>
          <p:cNvPr id="8" name="Stat label 2"/>
          <p:cNvSpPr txBox="1"/>
          <p:nvPr/>
        </p:nvSpPr>
        <p:spPr>
          <a:xfrm>
            <a:off x="2926080" y="4224528"/>
            <a:ext cx="2926080" cy="822960"/>
          </a:xfrm>
          <a:prstGeom prst="rect">
            <a:avLst/>
          </a:prstGeom>
          <a:noFill/>
          <a:ln/>
        </p:spPr>
        <p:txBody>
          <a:bodyPr wrap="square" lIns="0" tIns="0" rIns="0" bIns="0" rtlCol="0" anchor="ctr"/>
          <a:lstStyle/>
          <a:p>
            <a:pPr indent="0" marL="0">
              <a:buNone/>
            </a:pPr>
            <a:r>
              <a:rPr lang="en-US" sz="1400" dirty="0">
                <a:solidFill>
                  <a:schemeClr val="bg1"/>
                </a:solidFill>
              </a:rPr>
              <a:t>weighted median annual spending</a:t>
            </a:r>
            <a:endParaRPr lang="en-US" sz="1400" dirty="0"/>
          </a:p>
        </p:txBody>
      </p:sp>
      <p:sp>
        <p:nvSpPr>
          <p:cNvPr id="9" name="Stat 3"/>
          <p:cNvSpPr txBox="1"/>
          <p:nvPr/>
        </p:nvSpPr>
        <p:spPr>
          <a:xfrm>
            <a:off x="548640" y="5248656"/>
            <a:ext cx="2286000" cy="82296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15×</a:t>
            </a:r>
            <a:endParaRPr lang="en-US" sz="3400" dirty="0"/>
          </a:p>
        </p:txBody>
      </p:sp>
      <p:sp>
        <p:nvSpPr>
          <p:cNvPr id="10" name="Stat label 3"/>
          <p:cNvSpPr txBox="1"/>
          <p:nvPr/>
        </p:nvSpPr>
        <p:spPr>
          <a:xfrm>
            <a:off x="2926080" y="5248656"/>
            <a:ext cx="2926080" cy="822960"/>
          </a:xfrm>
          <a:prstGeom prst="rect">
            <a:avLst/>
          </a:prstGeom>
          <a:noFill/>
          <a:ln/>
        </p:spPr>
        <p:txBody>
          <a:bodyPr wrap="square" lIns="0" tIns="0" rIns="0" bIns="0" rtlCol="0" anchor="ctr"/>
          <a:lstStyle/>
          <a:p>
            <a:pPr indent="0" marL="0">
              <a:buNone/>
            </a:pPr>
            <a:r>
              <a:rPr lang="en-US" sz="1400" dirty="0">
                <a:solidFill>
                  <a:schemeClr val="bg1"/>
                </a:solidFill>
              </a:rPr>
              <a:t>the 90th percentile (Rs 30,000) over the 10th (Rs 2,000)</a:t>
            </a:r>
            <a:endParaRPr lang="en-US" sz="1400" dirty="0"/>
          </a:p>
        </p:txBody>
      </p:sp>
      <p:sp>
        <p:nvSpPr>
          <p:cNvPr id="11" name="Figure card"/>
          <p:cNvSpPr/>
          <p:nvPr/>
        </p:nvSpPr>
        <p:spPr>
          <a:xfrm>
            <a:off x="6035040" y="1143000"/>
            <a:ext cx="5623560" cy="4114800"/>
          </a:xfrm>
          <a:prstGeom prst="roundRect">
            <a:avLst>
              <a:gd name="adj" fmla="val 2667"/>
            </a:avLst>
          </a:prstGeom>
          <a:solidFill>
            <a:schemeClr val="bg1"/>
          </a:solidFill>
          <a:ln w="12700">
            <a:solidFill>
              <a:schemeClr val="bg1"/>
            </a:solidFill>
            <a:prstDash val="solid"/>
          </a:ln>
          <a:effectLst>
            <a:outerShdw sx="100000" sy="100000" kx="0" ky="0" algn="bl" rotWithShape="0" blurRad="101600" dist="25400" dir="5400000">
              <a:srgbClr val="000000">
                <a:alpha val="18000"/>
              </a:srgbClr>
            </a:outerShdw>
          </a:effectLst>
        </p:spPr>
      </p:sp>
      <p:pic>
        <p:nvPicPr>
          <p:cNvPr id="12" name="Distribution figure" descr="Weighted histogram of annual education spending on a log scale with dashed lines at the median Rs 6,600 and 90th percentile Rs 30,000">    </p:cNvPr>
          <p:cNvPicPr>
            <a:picLocks noChangeAspect="1"/>
          </p:cNvPicPr>
          <p:nvPr/>
        </p:nvPicPr>
        <p:blipFill>
          <a:blip r:embed="rId1"/>
          <a:stretch>
            <a:fillRect/>
          </a:stretch>
        </p:blipFill>
        <p:spPr>
          <a:xfrm>
            <a:off x="6217920" y="1325880"/>
            <a:ext cx="5257800" cy="3680460"/>
          </a:xfrm>
          <a:prstGeom prst="rect">
            <a:avLst/>
          </a:prstGeom>
        </p:spPr>
      </p:pic>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91440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makeover: from a cloud of dots to a clear comparison</a:t>
            </a:r>
            <a:endParaRPr lang="en-US" sz="3400" dirty="0"/>
          </a:p>
        </p:txBody>
      </p:sp>
      <p:sp>
        <p:nvSpPr>
          <p:cNvPr id="3" name="Before label"/>
          <p:cNvSpPr txBox="1"/>
          <p:nvPr/>
        </p:nvSpPr>
        <p:spPr>
          <a:xfrm>
            <a:off x="548640" y="1508760"/>
            <a:ext cx="5440680" cy="320040"/>
          </a:xfrm>
          <a:prstGeom prst="rect">
            <a:avLst/>
          </a:prstGeom>
          <a:noFill/>
          <a:ln/>
        </p:spPr>
        <p:txBody>
          <a:bodyPr wrap="square" lIns="0" tIns="0" rIns="0" bIns="0" rtlCol="0" anchor="ctr"/>
          <a:lstStyle/>
          <a:p>
            <a:pPr indent="0" marL="0">
              <a:buNone/>
            </a:pPr>
            <a:r>
              <a:rPr lang="en-US" sz="1300" b="1" dirty="0">
                <a:solidFill>
                  <a:schemeClr val="accent3"/>
                </a:solidFill>
              </a:rPr>
              <a:t>BEFORE  ·  R default, geom_point() only</a:t>
            </a:r>
            <a:endParaRPr lang="en-US" sz="1300" dirty="0"/>
          </a:p>
        </p:txBody>
      </p:sp>
      <p:sp>
        <p:nvSpPr>
          <p:cNvPr id="4" name="Default frame"/>
          <p:cNvSpPr/>
          <p:nvPr/>
        </p:nvSpPr>
        <p:spPr>
          <a:xfrm>
            <a:off x="548640" y="1874520"/>
            <a:ext cx="5440680" cy="3291840"/>
          </a:xfrm>
          <a:prstGeom prst="rect">
            <a:avLst/>
          </a:prstGeom>
          <a:solidFill>
            <a:schemeClr val="bg1"/>
          </a:solidFill>
          <a:ln w="15875">
            <a:solidFill>
              <a:schemeClr val="accent3"/>
            </a:solidFill>
            <a:prstDash val="solid"/>
          </a:ln>
        </p:spPr>
      </p:sp>
      <p:pic>
        <p:nvPicPr>
          <p:cNvPr id="5" name="Default figure" descr="R default scatterplot of literate (0 or 1) against age: two solid rows of overlapping points">    </p:cNvPr>
          <p:cNvPicPr>
            <a:picLocks noChangeAspect="1"/>
          </p:cNvPicPr>
          <p:nvPr/>
        </p:nvPicPr>
        <p:blipFill>
          <a:blip r:embed="rId1"/>
          <a:stretch>
            <a:fillRect/>
          </a:stretch>
        </p:blipFill>
        <p:spPr>
          <a:xfrm>
            <a:off x="1135380" y="1920240"/>
            <a:ext cx="4267200" cy="3200400"/>
          </a:xfrm>
          <a:prstGeom prst="rect">
            <a:avLst/>
          </a:prstGeom>
        </p:spPr>
      </p:pic>
      <p:sp>
        <p:nvSpPr>
          <p:cNvPr id="6" name="After label"/>
          <p:cNvSpPr txBox="1"/>
          <p:nvPr/>
        </p:nvSpPr>
        <p:spPr>
          <a:xfrm>
            <a:off x="6217920" y="1508760"/>
            <a:ext cx="5440680" cy="320040"/>
          </a:xfrm>
          <a:prstGeom prst="rect">
            <a:avLst/>
          </a:prstGeom>
          <a:noFill/>
          <a:ln/>
        </p:spPr>
        <p:txBody>
          <a:bodyPr wrap="square" lIns="0" tIns="0" rIns="0" bIns="0" rtlCol="0" anchor="ctr"/>
          <a:lstStyle/>
          <a:p>
            <a:pPr indent="0" marL="0">
              <a:buNone/>
            </a:pPr>
            <a:r>
              <a:rPr lang="en-US" sz="1300" b="1" dirty="0">
                <a:solidFill>
                  <a:schemeClr val="accent1"/>
                </a:solidFill>
              </a:rPr>
              <a:t>AFTER  ·  redesign (Question 3)</a:t>
            </a:r>
            <a:endParaRPr lang="en-US" sz="1300" dirty="0"/>
          </a:p>
        </p:txBody>
      </p:sp>
      <p:sp>
        <p:nvSpPr>
          <p:cNvPr id="7" name="Redesign frame"/>
          <p:cNvSpPr/>
          <p:nvPr/>
        </p:nvSpPr>
        <p:spPr>
          <a:xfrm>
            <a:off x="6217920" y="1874520"/>
            <a:ext cx="5440680" cy="3291840"/>
          </a:xfrm>
          <a:prstGeom prst="rect">
            <a:avLst/>
          </a:prstGeom>
          <a:solidFill>
            <a:schemeClr val="bg1"/>
          </a:solidFill>
          <a:ln w="15875">
            <a:solidFill>
              <a:schemeClr val="accent1"/>
            </a:solidFill>
            <a:prstDash val="solid"/>
          </a:ln>
          <a:effectLst>
            <a:outerShdw sx="100000" sy="100000" kx="0" ky="0" algn="bl" rotWithShape="0" blurRad="101600" dist="25400" dir="5400000">
              <a:srgbClr val="000000">
                <a:alpha val="18000"/>
              </a:srgbClr>
            </a:outerShdw>
          </a:effectLst>
        </p:spPr>
      </p:sp>
      <p:pic>
        <p:nvPicPr>
          <p:cNvPr id="8" name="Redesigned figure" descr="Line chart of weighted literacy rate by age band for men and women in rural Punjab, with the 55-59 gap annotated">    </p:cNvPr>
          <p:cNvPicPr>
            <a:picLocks noChangeAspect="1"/>
          </p:cNvPicPr>
          <p:nvPr/>
        </p:nvPicPr>
        <p:blipFill>
          <a:blip r:embed="rId2"/>
          <a:stretch>
            <a:fillRect/>
          </a:stretch>
        </p:blipFill>
        <p:spPr>
          <a:xfrm>
            <a:off x="6263640" y="1915668"/>
            <a:ext cx="5349240" cy="3209544"/>
          </a:xfrm>
          <a:prstGeom prst="rect">
            <a:avLst/>
          </a:prstGeom>
        </p:spPr>
      </p:pic>
      <p:sp>
        <p:nvSpPr>
          <p:cNvPr id="9" name="Change card 1"/>
          <p:cNvSpPr/>
          <p:nvPr/>
        </p:nvSpPr>
        <p:spPr>
          <a:xfrm>
            <a:off x="548640" y="5349240"/>
            <a:ext cx="3566160" cy="822960"/>
          </a:xfrm>
          <a:prstGeom prst="roundRect">
            <a:avLst>
              <a:gd name="adj" fmla="val 11111"/>
            </a:avLst>
          </a:prstGeom>
          <a:solidFill>
            <a:schemeClr val="bg2"/>
          </a:solidFill>
          <a:ln w="12700">
            <a:solidFill>
              <a:schemeClr val="bg2"/>
            </a:solidFill>
            <a:prstDash val="solid"/>
          </a:ln>
        </p:spPr>
      </p:sp>
      <p:sp>
        <p:nvSpPr>
          <p:cNvPr id="10" name="Change text 1"/>
          <p:cNvSpPr txBox="1"/>
          <p:nvPr/>
        </p:nvSpPr>
        <p:spPr>
          <a:xfrm>
            <a:off x="731520" y="5349240"/>
            <a:ext cx="3200400" cy="822960"/>
          </a:xfrm>
          <a:prstGeom prst="rect">
            <a:avLst/>
          </a:prstGeom>
          <a:noFill/>
          <a:ln/>
        </p:spPr>
        <p:txBody>
          <a:bodyPr wrap="square" lIns="0" tIns="0" rIns="0" bIns="0" rtlCol="0" anchor="ctr"/>
          <a:lstStyle/>
          <a:p>
            <a:pPr indent="0" marL="0">
              <a:buNone/>
            </a:pPr>
            <a:r>
              <a:rPr lang="en-US" sz="1600" b="1" dirty="0">
                <a:solidFill>
                  <a:schemeClr val="tx2"/>
                </a:solidFill>
              </a:rPr>
              <a:t>Lines + weighted means</a:t>
            </a:r>
            <a:endParaRPr lang="en-US" sz="1600" dirty="0"/>
          </a:p>
          <a:p>
            <a:pPr indent="0" marL="0">
              <a:buNone/>
            </a:pPr>
            <a:r>
              <a:rPr lang="en-US" sz="1300" dirty="0">
                <a:solidFill>
                  <a:schemeClr val="tx1"/>
                </a:solidFill>
              </a:rPr>
              <a:t>one clear value per band</a:t>
            </a:r>
            <a:endParaRPr lang="en-US" sz="1600" dirty="0"/>
          </a:p>
        </p:txBody>
      </p:sp>
      <p:sp>
        <p:nvSpPr>
          <p:cNvPr id="11" name="Change card 2"/>
          <p:cNvSpPr/>
          <p:nvPr/>
        </p:nvSpPr>
        <p:spPr>
          <a:xfrm>
            <a:off x="4297680" y="5349240"/>
            <a:ext cx="3566160" cy="822960"/>
          </a:xfrm>
          <a:prstGeom prst="roundRect">
            <a:avLst>
              <a:gd name="adj" fmla="val 11111"/>
            </a:avLst>
          </a:prstGeom>
          <a:solidFill>
            <a:schemeClr val="bg2"/>
          </a:solidFill>
          <a:ln w="12700">
            <a:solidFill>
              <a:schemeClr val="bg2"/>
            </a:solidFill>
            <a:prstDash val="solid"/>
          </a:ln>
        </p:spPr>
      </p:sp>
      <p:sp>
        <p:nvSpPr>
          <p:cNvPr id="12" name="Change text 2"/>
          <p:cNvSpPr txBox="1"/>
          <p:nvPr/>
        </p:nvSpPr>
        <p:spPr>
          <a:xfrm>
            <a:off x="4480560" y="5349240"/>
            <a:ext cx="3200400" cy="822960"/>
          </a:xfrm>
          <a:prstGeom prst="rect">
            <a:avLst/>
          </a:prstGeom>
          <a:noFill/>
          <a:ln/>
        </p:spPr>
        <p:txBody>
          <a:bodyPr wrap="square" lIns="0" tIns="0" rIns="0" bIns="0" rtlCol="0" anchor="ctr"/>
          <a:lstStyle/>
          <a:p>
            <a:pPr indent="0" marL="0">
              <a:buNone/>
            </a:pPr>
            <a:r>
              <a:rPr lang="en-US" sz="1600" b="1" dirty="0">
                <a:solidFill>
                  <a:schemeClr val="tx2"/>
                </a:solidFill>
              </a:rPr>
              <a:t>Direct labels</a:t>
            </a:r>
            <a:endParaRPr lang="en-US" sz="1600" dirty="0"/>
          </a:p>
          <a:p>
            <a:pPr indent="0" marL="0">
              <a:buNone/>
            </a:pPr>
            <a:r>
              <a:rPr lang="en-US" sz="1300" dirty="0">
                <a:solidFill>
                  <a:schemeClr val="tx1"/>
                </a:solidFill>
              </a:rPr>
              <a:t>no legend to look back at</a:t>
            </a:r>
            <a:endParaRPr lang="en-US" sz="1600" dirty="0"/>
          </a:p>
        </p:txBody>
      </p:sp>
      <p:sp>
        <p:nvSpPr>
          <p:cNvPr id="13" name="Change card 3"/>
          <p:cNvSpPr/>
          <p:nvPr/>
        </p:nvSpPr>
        <p:spPr>
          <a:xfrm>
            <a:off x="8046720" y="5349240"/>
            <a:ext cx="3566160" cy="822960"/>
          </a:xfrm>
          <a:prstGeom prst="roundRect">
            <a:avLst>
              <a:gd name="adj" fmla="val 11111"/>
            </a:avLst>
          </a:prstGeom>
          <a:solidFill>
            <a:schemeClr val="bg2"/>
          </a:solidFill>
          <a:ln w="12700">
            <a:solidFill>
              <a:schemeClr val="bg2"/>
            </a:solidFill>
            <a:prstDash val="solid"/>
          </a:ln>
        </p:spPr>
      </p:sp>
      <p:sp>
        <p:nvSpPr>
          <p:cNvPr id="14" name="Change text 3"/>
          <p:cNvSpPr txBox="1"/>
          <p:nvPr/>
        </p:nvSpPr>
        <p:spPr>
          <a:xfrm>
            <a:off x="8229600" y="5349240"/>
            <a:ext cx="3200400" cy="822960"/>
          </a:xfrm>
          <a:prstGeom prst="rect">
            <a:avLst/>
          </a:prstGeom>
          <a:noFill/>
          <a:ln/>
        </p:spPr>
        <p:txBody>
          <a:bodyPr wrap="square" lIns="0" tIns="0" rIns="0" bIns="0" rtlCol="0" anchor="ctr"/>
          <a:lstStyle/>
          <a:p>
            <a:pPr indent="0" marL="0">
              <a:buNone/>
            </a:pPr>
            <a:r>
              <a:rPr lang="en-US" sz="1600" b="1" dirty="0">
                <a:solidFill>
                  <a:schemeClr val="tx2"/>
                </a:solidFill>
              </a:rPr>
              <a:t>Gap annotated</a:t>
            </a:r>
            <a:endParaRPr lang="en-US" sz="1600" dirty="0"/>
          </a:p>
          <a:p>
            <a:pPr indent="0" marL="0">
              <a:buNone/>
            </a:pPr>
            <a:r>
              <a:rPr lang="en-US" sz="1300" dirty="0">
                <a:solidFill>
                  <a:schemeClr val="tx1"/>
                </a:solidFill>
              </a:rPr>
              <a:t>35.8 pp at ages 55–59</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91440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literacy gap grows from 6.7 to 35.8 points with age</a:t>
            </a:r>
            <a:endParaRPr lang="en-US" sz="3400" dirty="0"/>
          </a:p>
        </p:txBody>
      </p:sp>
      <p:graphicFrame>
        <p:nvGraphicFramePr>
          <p:cNvPr id="3" name="Chart 0" descr=""/>
          <p:cNvGraphicFramePr/>
          <p:nvPr/>
        </p:nvGraphicFramePr>
        <p:xfrm>
          <a:off x="548640" y="1463040"/>
          <a:ext cx="7040880" cy="4663440"/>
        </p:xfrm>
        <a:graphic xmlns:a="http://schemas.openxmlformats.org/drawingml/2006/main">
          <a:graphicData uri="http://schemas.openxmlformats.org/drawingml/2006/chart">
            <c:chart xmlns:c="http://schemas.openxmlformats.org/drawingml/2006/chart" r:id="rId1"/>
          </a:graphicData>
        </a:graphic>
      </p:graphicFrame>
      <p:sp>
        <p:nvSpPr>
          <p:cNvPr id="4" name="Gap card 1"/>
          <p:cNvSpPr/>
          <p:nvPr/>
        </p:nvSpPr>
        <p:spPr>
          <a:xfrm>
            <a:off x="7955280" y="1554480"/>
            <a:ext cx="3703320" cy="1417320"/>
          </a:xfrm>
          <a:prstGeom prst="roundRect">
            <a:avLst>
              <a:gd name="adj" fmla="val 7742"/>
            </a:avLst>
          </a:prstGeom>
          <a:solidFill>
            <a:srgbClr val="E3A21A"/>
          </a:solidFill>
          <a:ln w="12700">
            <a:solidFill>
              <a:srgbClr val="E3A21A"/>
            </a:solidFill>
            <a:prstDash val="solid"/>
          </a:ln>
        </p:spPr>
      </p:sp>
      <p:sp>
        <p:nvSpPr>
          <p:cNvPr id="5" name="Gap value 1"/>
          <p:cNvSpPr txBox="1"/>
          <p:nvPr/>
        </p:nvSpPr>
        <p:spPr>
          <a:xfrm>
            <a:off x="8183880" y="1645920"/>
            <a:ext cx="3291840" cy="685800"/>
          </a:xfrm>
          <a:prstGeom prst="rect">
            <a:avLst/>
          </a:prstGeom>
          <a:noFill/>
          <a:ln/>
        </p:spPr>
        <p:txBody>
          <a:bodyPr wrap="square" lIns="0" tIns="0" rIns="0" bIns="0" rtlCol="0" anchor="ctr"/>
          <a:lstStyle/>
          <a:p>
            <a:pPr indent="0" marL="0">
              <a:buNone/>
            </a:pPr>
            <a:r>
              <a:rPr lang="en-US" sz="3600" b="1" dirty="0">
                <a:solidFill>
                  <a:srgbClr val="0F3D2E"/>
                </a:solidFill>
                <a:latin typeface="Cambria" pitchFamily="34" charset="0"/>
                <a:ea typeface="Cambria" pitchFamily="34" charset="-122"/>
                <a:cs typeface="Cambria" pitchFamily="34" charset="-120"/>
              </a:rPr>
              <a:t>35.8 pp</a:t>
            </a:r>
            <a:endParaRPr lang="en-US" sz="3600" dirty="0"/>
          </a:p>
        </p:txBody>
      </p:sp>
      <p:sp>
        <p:nvSpPr>
          <p:cNvPr id="6" name="Gap text 1"/>
          <p:cNvSpPr txBox="1"/>
          <p:nvPr/>
        </p:nvSpPr>
        <p:spPr>
          <a:xfrm>
            <a:off x="8183880" y="2331720"/>
            <a:ext cx="3291840" cy="548640"/>
          </a:xfrm>
          <a:prstGeom prst="rect">
            <a:avLst/>
          </a:prstGeom>
          <a:noFill/>
          <a:ln/>
        </p:spPr>
        <p:txBody>
          <a:bodyPr wrap="square" lIns="0" tIns="0" rIns="0" bIns="0" rtlCol="0" anchor="t"/>
          <a:lstStyle/>
          <a:p>
            <a:pPr indent="0" marL="0">
              <a:buNone/>
            </a:pPr>
            <a:r>
              <a:rPr lang="en-US" sz="1500" b="1" dirty="0">
                <a:solidFill>
                  <a:srgbClr val="0F3D2E"/>
                </a:solidFill>
              </a:rPr>
              <a:t>Ages 55–59</a:t>
            </a:r>
            <a:endParaRPr lang="en-US" sz="1500" dirty="0"/>
          </a:p>
          <a:p>
            <a:pPr indent="0" marL="0">
              <a:buNone/>
            </a:pPr>
            <a:r>
              <a:rPr lang="en-US" sz="1400" dirty="0">
                <a:solidFill>
                  <a:srgbClr val="0F3D2E"/>
                </a:solidFill>
              </a:rPr>
              <a:t>Men 50.8% literate vs women 15.0%</a:t>
            </a:r>
            <a:endParaRPr lang="en-US" sz="1500" dirty="0"/>
          </a:p>
        </p:txBody>
      </p:sp>
      <p:sp>
        <p:nvSpPr>
          <p:cNvPr id="7" name="Gap card 2"/>
          <p:cNvSpPr/>
          <p:nvPr/>
        </p:nvSpPr>
        <p:spPr>
          <a:xfrm>
            <a:off x="7955280" y="3154680"/>
            <a:ext cx="3703320" cy="1417320"/>
          </a:xfrm>
          <a:prstGeom prst="roundRect">
            <a:avLst>
              <a:gd name="adj" fmla="val 7742"/>
            </a:avLst>
          </a:prstGeom>
          <a:solidFill>
            <a:srgbClr val="EAF1ED"/>
          </a:solidFill>
          <a:ln w="12700">
            <a:solidFill>
              <a:srgbClr val="EAF1ED"/>
            </a:solidFill>
            <a:prstDash val="solid"/>
          </a:ln>
        </p:spPr>
      </p:sp>
      <p:sp>
        <p:nvSpPr>
          <p:cNvPr id="8" name="Gap value 2"/>
          <p:cNvSpPr txBox="1"/>
          <p:nvPr/>
        </p:nvSpPr>
        <p:spPr>
          <a:xfrm>
            <a:off x="8183880" y="3246120"/>
            <a:ext cx="3291840" cy="685800"/>
          </a:xfrm>
          <a:prstGeom prst="rect">
            <a:avLst/>
          </a:prstGeom>
          <a:noFill/>
          <a:ln/>
        </p:spPr>
        <p:txBody>
          <a:bodyPr wrap="square" lIns="0" tIns="0" rIns="0" bIns="0" rtlCol="0" anchor="ctr"/>
          <a:lstStyle/>
          <a:p>
            <a:pPr indent="0" marL="0">
              <a:buNone/>
            </a:pPr>
            <a:r>
              <a:rPr lang="en-US" sz="3600" b="1" dirty="0">
                <a:solidFill>
                  <a:srgbClr val="287A55"/>
                </a:solidFill>
                <a:latin typeface="Cambria" pitchFamily="34" charset="0"/>
                <a:ea typeface="Cambria" pitchFamily="34" charset="-122"/>
                <a:cs typeface="Cambria" pitchFamily="34" charset="-120"/>
              </a:rPr>
              <a:t>6.7 pp</a:t>
            </a:r>
            <a:endParaRPr lang="en-US" sz="3600" dirty="0"/>
          </a:p>
        </p:txBody>
      </p:sp>
      <p:sp>
        <p:nvSpPr>
          <p:cNvPr id="9" name="Gap text 2"/>
          <p:cNvSpPr txBox="1"/>
          <p:nvPr/>
        </p:nvSpPr>
        <p:spPr>
          <a:xfrm>
            <a:off x="8183880" y="3931920"/>
            <a:ext cx="3291840" cy="548640"/>
          </a:xfrm>
          <a:prstGeom prst="rect">
            <a:avLst/>
          </a:prstGeom>
          <a:noFill/>
          <a:ln/>
        </p:spPr>
        <p:txBody>
          <a:bodyPr wrap="square" lIns="0" tIns="0" rIns="0" bIns="0" rtlCol="0" anchor="t"/>
          <a:lstStyle/>
          <a:p>
            <a:pPr indent="0" marL="0">
              <a:buNone/>
            </a:pPr>
            <a:r>
              <a:rPr lang="en-US" sz="1500" b="1" dirty="0">
                <a:solidFill>
                  <a:srgbClr val="1B2A24"/>
                </a:solidFill>
              </a:rPr>
              <a:t>Ages 15–19</a:t>
            </a:r>
            <a:endParaRPr lang="en-US" sz="1500" dirty="0"/>
          </a:p>
          <a:p>
            <a:pPr indent="0" marL="0">
              <a:buNone/>
            </a:pPr>
            <a:r>
              <a:rPr lang="en-US" sz="1400" dirty="0">
                <a:solidFill>
                  <a:srgbClr val="1B2A24"/>
                </a:solidFill>
              </a:rPr>
              <a:t>Men 79.8% literate vs women 73.1%</a:t>
            </a:r>
            <a:endParaRPr lang="en-US" sz="1500" dirty="0"/>
          </a:p>
        </p:txBody>
      </p:sp>
      <p:sp>
        <p:nvSpPr>
          <p:cNvPr id="10" name="Caveat"/>
          <p:cNvSpPr txBox="1"/>
          <p:nvPr/>
        </p:nvSpPr>
        <p:spPr>
          <a:xfrm>
            <a:off x="7955280" y="4800600"/>
            <a:ext cx="3703320" cy="1280160"/>
          </a:xfrm>
          <a:prstGeom prst="rect">
            <a:avLst/>
          </a:prstGeom>
          <a:noFill/>
          <a:ln/>
        </p:spPr>
        <p:txBody>
          <a:bodyPr wrap="square" lIns="0" tIns="0" rIns="0" bIns="0" rtlCol="0" anchor="t"/>
          <a:lstStyle/>
          <a:p>
            <a:pPr indent="0" marL="0">
              <a:buNone/>
            </a:pPr>
            <a:r>
              <a:rPr lang="en-US" sz="1400" b="1" dirty="0">
                <a:solidFill>
                  <a:srgbClr val="0F3D2E"/>
                </a:solidFill>
              </a:rPr>
              <a:t>What it cannot tell us: </a:t>
            </a:r>
            <a:pPr indent="0" marL="0">
              <a:buNone/>
            </a:pPr>
            <a:r>
              <a:rPr lang="en-US" sz="1400" dirty="0">
                <a:solidFill>
                  <a:srgbClr val="1B2A24"/>
                </a:solidFill>
              </a:rPr>
              <a:t>why the gap exists, or whether age itself lowers literacy. One survey mixes age with birth cohort.</a:t>
            </a:r>
            <a:endParaRPr lang="en-US" sz="1400" dirty="0"/>
          </a:p>
        </p:txBody>
      </p:sp>
      <p:sp>
        <p:nvSpPr>
          <p:cNvPr id="11" name="Source note"/>
          <p:cNvSpPr txBox="1"/>
          <p:nvPr/>
        </p:nvSpPr>
        <p:spPr>
          <a:xfrm>
            <a:off x="548640" y="6263640"/>
            <a:ext cx="10515600" cy="274320"/>
          </a:xfrm>
          <a:prstGeom prst="rect">
            <a:avLst/>
          </a:prstGeom>
          <a:noFill/>
          <a:ln/>
        </p:spPr>
        <p:txBody>
          <a:bodyPr wrap="square" lIns="0" tIns="0" rIns="0" bIns="0" rtlCol="0" anchor="ctr"/>
          <a:lstStyle/>
          <a:p>
            <a:pPr indent="0" marL="0">
              <a:buNone/>
            </a:pPr>
            <a:r>
              <a:rPr lang="en-US" sz="1000" dirty="0">
                <a:solidFill>
                  <a:schemeClr val="accent3"/>
                </a:solidFill>
              </a:rPr>
              <a:t>Gaps computed from the weighted band table (README). Source: PSLM 2019–20, rural Punjab, ages 10–64, household weights.</a:t>
            </a: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lide title"/>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Why the redesign works, and what it hides</a:t>
            </a:r>
            <a:endParaRPr lang="en-US" sz="3400" dirty="0"/>
          </a:p>
        </p:txBody>
      </p:sp>
      <p:sp>
        <p:nvSpPr>
          <p:cNvPr id="3" name="Number circle 1"/>
          <p:cNvSpPr/>
          <p:nvPr/>
        </p:nvSpPr>
        <p:spPr>
          <a:xfrm>
            <a:off x="548640" y="1618488"/>
            <a:ext cx="640080" cy="640080"/>
          </a:xfrm>
          <a:prstGeom prst="ellipse">
            <a:avLst/>
          </a:prstGeom>
          <a:solidFill>
            <a:schemeClr val="accent2"/>
          </a:solidFill>
          <a:ln w="12700">
            <a:solidFill>
              <a:schemeClr val="accent2"/>
            </a:solidFill>
            <a:prstDash val="solid"/>
          </a:ln>
        </p:spPr>
      </p:sp>
      <p:sp>
        <p:nvSpPr>
          <p:cNvPr id="4" name="Number 1"/>
          <p:cNvSpPr txBox="1"/>
          <p:nvPr/>
        </p:nvSpPr>
        <p:spPr>
          <a:xfrm>
            <a:off x="548640" y="1618488"/>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1</a:t>
            </a:r>
            <a:endParaRPr lang="en-US" sz="2200" dirty="0"/>
          </a:p>
        </p:txBody>
      </p:sp>
      <p:sp>
        <p:nvSpPr>
          <p:cNvPr id="5" name="Principle 1"/>
          <p:cNvSpPr txBox="1"/>
          <p:nvPr/>
        </p:nvSpPr>
        <p:spPr>
          <a:xfrm>
            <a:off x="1417320" y="1508760"/>
            <a:ext cx="5120640" cy="1143000"/>
          </a:xfrm>
          <a:prstGeom prst="rect">
            <a:avLst/>
          </a:prstGeom>
          <a:noFill/>
          <a:ln/>
        </p:spPr>
        <p:txBody>
          <a:bodyPr wrap="square" lIns="0" tIns="0" rIns="0" bIns="0" rtlCol="0" anchor="t"/>
          <a:lstStyle/>
          <a:p>
            <a:pPr indent="0" marL="0">
              <a:buNone/>
            </a:pPr>
            <a:r>
              <a:rPr lang="en-US" sz="1800" b="1" dirty="0">
                <a:solidFill>
                  <a:schemeClr val="bg1"/>
                </a:solidFill>
              </a:rPr>
              <a:t>Conditional means by band</a:t>
            </a:r>
            <a:endParaRPr lang="en-US" sz="1800" dirty="0"/>
          </a:p>
          <a:p>
            <a:pPr indent="0" marL="0">
              <a:buNone/>
            </a:pPr>
            <a:r>
              <a:rPr lang="en-US" sz="1400" dirty="0">
                <a:solidFill>
                  <a:srgbClr val="CFE0D6"/>
                </a:solidFill>
              </a:rPr>
              <a:t>Overplotting. Thousands of 0/1 dots hide the pattern; one weighted mean per age band and sex shows it.</a:t>
            </a:r>
            <a:endParaRPr lang="en-US" sz="1800" dirty="0"/>
          </a:p>
        </p:txBody>
      </p:sp>
      <p:sp>
        <p:nvSpPr>
          <p:cNvPr id="6" name="Number circle 2"/>
          <p:cNvSpPr/>
          <p:nvPr/>
        </p:nvSpPr>
        <p:spPr>
          <a:xfrm>
            <a:off x="548640" y="2990088"/>
            <a:ext cx="640080" cy="640080"/>
          </a:xfrm>
          <a:prstGeom prst="ellipse">
            <a:avLst/>
          </a:prstGeom>
          <a:solidFill>
            <a:schemeClr val="accent2"/>
          </a:solidFill>
          <a:ln w="12700">
            <a:solidFill>
              <a:schemeClr val="accent2"/>
            </a:solidFill>
            <a:prstDash val="solid"/>
          </a:ln>
        </p:spPr>
      </p:sp>
      <p:sp>
        <p:nvSpPr>
          <p:cNvPr id="7" name="Number 2"/>
          <p:cNvSpPr txBox="1"/>
          <p:nvPr/>
        </p:nvSpPr>
        <p:spPr>
          <a:xfrm>
            <a:off x="548640" y="2990088"/>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2</a:t>
            </a:r>
            <a:endParaRPr lang="en-US" sz="2200" dirty="0"/>
          </a:p>
        </p:txBody>
      </p:sp>
      <p:sp>
        <p:nvSpPr>
          <p:cNvPr id="8" name="Principle 2"/>
          <p:cNvSpPr txBox="1"/>
          <p:nvPr/>
        </p:nvSpPr>
        <p:spPr>
          <a:xfrm>
            <a:off x="1417320" y="2880360"/>
            <a:ext cx="5120640" cy="1143000"/>
          </a:xfrm>
          <a:prstGeom prst="rect">
            <a:avLst/>
          </a:prstGeom>
          <a:noFill/>
          <a:ln/>
        </p:spPr>
        <p:txBody>
          <a:bodyPr wrap="square" lIns="0" tIns="0" rIns="0" bIns="0" rtlCol="0" anchor="t"/>
          <a:lstStyle/>
          <a:p>
            <a:pPr indent="0" marL="0">
              <a:buNone/>
            </a:pPr>
            <a:r>
              <a:rPr lang="en-US" sz="1800" b="1" dirty="0">
                <a:solidFill>
                  <a:schemeClr val="bg1"/>
                </a:solidFill>
              </a:rPr>
              <a:t>Direct labels, no legend</a:t>
            </a:r>
            <a:endParaRPr lang="en-US" sz="1800" dirty="0"/>
          </a:p>
          <a:p>
            <a:pPr indent="0" marL="0">
              <a:buNone/>
            </a:pPr>
            <a:r>
              <a:rPr lang="en-US" sz="1400" dirty="0">
                <a:solidFill>
                  <a:srgbClr val="CFE0D6"/>
                </a:solidFill>
              </a:rPr>
              <a:t>Data–ink. Fewer elements to decode; no looking back and forth.</a:t>
            </a:r>
            <a:endParaRPr lang="en-US" sz="1800" dirty="0"/>
          </a:p>
        </p:txBody>
      </p:sp>
      <p:sp>
        <p:nvSpPr>
          <p:cNvPr id="9" name="Number circle 3"/>
          <p:cNvSpPr/>
          <p:nvPr/>
        </p:nvSpPr>
        <p:spPr>
          <a:xfrm>
            <a:off x="548640" y="4361688"/>
            <a:ext cx="640080" cy="640080"/>
          </a:xfrm>
          <a:prstGeom prst="ellipse">
            <a:avLst/>
          </a:prstGeom>
          <a:solidFill>
            <a:schemeClr val="accent2"/>
          </a:solidFill>
          <a:ln w="12700">
            <a:solidFill>
              <a:schemeClr val="accent2"/>
            </a:solidFill>
            <a:prstDash val="solid"/>
          </a:ln>
        </p:spPr>
      </p:sp>
      <p:sp>
        <p:nvSpPr>
          <p:cNvPr id="10" name="Number 3"/>
          <p:cNvSpPr txBox="1"/>
          <p:nvPr/>
        </p:nvSpPr>
        <p:spPr>
          <a:xfrm>
            <a:off x="548640" y="4361688"/>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3</a:t>
            </a:r>
            <a:endParaRPr lang="en-US" sz="2200" dirty="0"/>
          </a:p>
        </p:txBody>
      </p:sp>
      <p:sp>
        <p:nvSpPr>
          <p:cNvPr id="11" name="Principle 3"/>
          <p:cNvSpPr txBox="1"/>
          <p:nvPr/>
        </p:nvSpPr>
        <p:spPr>
          <a:xfrm>
            <a:off x="1417320" y="4251960"/>
            <a:ext cx="5120640" cy="1143000"/>
          </a:xfrm>
          <a:prstGeom prst="rect">
            <a:avLst/>
          </a:prstGeom>
          <a:noFill/>
          <a:ln/>
        </p:spPr>
        <p:txBody>
          <a:bodyPr wrap="square" lIns="0" tIns="0" rIns="0" bIns="0" rtlCol="0" anchor="t"/>
          <a:lstStyle/>
          <a:p>
            <a:pPr indent="0" marL="0">
              <a:buNone/>
            </a:pPr>
            <a:r>
              <a:rPr lang="en-US" sz="1800" b="1" dirty="0">
                <a:solidFill>
                  <a:schemeClr val="bg1"/>
                </a:solidFill>
              </a:rPr>
              <a:t>Common 0–100 scale, gap annotated</a:t>
            </a:r>
            <a:endParaRPr lang="en-US" sz="1800" dirty="0"/>
          </a:p>
          <a:p>
            <a:pPr indent="0" marL="0">
              <a:buNone/>
            </a:pPr>
            <a:r>
              <a:rPr lang="en-US" sz="1400" dirty="0">
                <a:solidFill>
                  <a:srgbClr val="CFE0D6"/>
                </a:solidFill>
              </a:rPr>
              <a:t>Perceptual ranking of channels. Position is read most accurately, and the annotation steers the eye.</a:t>
            </a:r>
            <a:endParaRPr lang="en-US" sz="1800" dirty="0"/>
          </a:p>
        </p:txBody>
      </p:sp>
      <p:sp>
        <p:nvSpPr>
          <p:cNvPr id="12" name="Hides card"/>
          <p:cNvSpPr/>
          <p:nvPr/>
        </p:nvSpPr>
        <p:spPr>
          <a:xfrm>
            <a:off x="7040880" y="1508760"/>
            <a:ext cx="4617720" cy="1874520"/>
          </a:xfrm>
          <a:prstGeom prst="roundRect">
            <a:avLst>
              <a:gd name="adj" fmla="val 5854"/>
            </a:avLst>
          </a:prstGeom>
          <a:solidFill>
            <a:schemeClr val="bg1"/>
          </a:solidFill>
          <a:ln w="12700">
            <a:solidFill>
              <a:schemeClr val="bg1"/>
            </a:solidFill>
            <a:prstDash val="solid"/>
          </a:ln>
        </p:spPr>
      </p:sp>
      <p:sp>
        <p:nvSpPr>
          <p:cNvPr id="13" name="Hides text"/>
          <p:cNvSpPr txBox="1"/>
          <p:nvPr/>
        </p:nvSpPr>
        <p:spPr>
          <a:xfrm>
            <a:off x="7269480" y="1508760"/>
            <a:ext cx="4160520" cy="1874520"/>
          </a:xfrm>
          <a:prstGeom prst="rect">
            <a:avLst/>
          </a:prstGeom>
          <a:noFill/>
          <a:ln/>
        </p:spPr>
        <p:txBody>
          <a:bodyPr wrap="square" lIns="0" tIns="0" rIns="0" bIns="0" rtlCol="0" anchor="ctr"/>
          <a:lstStyle/>
          <a:p>
            <a:pPr indent="0" marL="0">
              <a:buNone/>
            </a:pPr>
            <a:r>
              <a:rPr lang="en-US" sz="1200" b="1" dirty="0">
                <a:solidFill>
                  <a:schemeClr val="accent5"/>
                </a:solidFill>
              </a:rPr>
              <a:t>WHAT THE REDESIGN HIDES</a:t>
            </a:r>
            <a:endParaRPr lang="en-US" sz="1200" dirty="0"/>
          </a:p>
          <a:p>
            <a:pPr indent="0" marL="0">
              <a:buNone/>
            </a:pPr>
            <a:r>
              <a:rPr lang="en-US" sz="1600" dirty="0">
                <a:solidFill>
                  <a:schemeClr val="tx1"/>
                </a:solidFill>
              </a:rPr>
              <a:t>The individual observations and their distribution, which the default scatterplot still shows.</a:t>
            </a:r>
            <a:endParaRPr lang="en-US" sz="1200" dirty="0"/>
          </a:p>
        </p:txBody>
      </p:sp>
      <p:sp>
        <p:nvSpPr>
          <p:cNvPr id="14" name="Check card"/>
          <p:cNvSpPr/>
          <p:nvPr/>
        </p:nvSpPr>
        <p:spPr>
          <a:xfrm>
            <a:off x="7040880" y="3611880"/>
            <a:ext cx="4617720" cy="2240280"/>
          </a:xfrm>
          <a:prstGeom prst="roundRect">
            <a:avLst>
              <a:gd name="adj" fmla="val 4898"/>
            </a:avLst>
          </a:prstGeom>
          <a:solidFill>
            <a:schemeClr val="bg1"/>
          </a:solidFill>
          <a:ln w="12700">
            <a:solidFill>
              <a:schemeClr val="bg1"/>
            </a:solidFill>
            <a:prstDash val="solid"/>
          </a:ln>
        </p:spPr>
      </p:sp>
      <p:sp>
        <p:nvSpPr>
          <p:cNvPr id="15" name="Check label"/>
          <p:cNvSpPr txBox="1"/>
          <p:nvPr/>
        </p:nvSpPr>
        <p:spPr>
          <a:xfrm>
            <a:off x="7269480" y="3749040"/>
            <a:ext cx="4160520" cy="274320"/>
          </a:xfrm>
          <a:prstGeom prst="rect">
            <a:avLst/>
          </a:prstGeom>
          <a:noFill/>
          <a:ln/>
        </p:spPr>
        <p:txBody>
          <a:bodyPr wrap="square" lIns="0" tIns="0" rIns="0" bIns="0" rtlCol="0" anchor="ctr"/>
          <a:lstStyle/>
          <a:p>
            <a:pPr indent="0" marL="0">
              <a:buNone/>
            </a:pPr>
            <a:r>
              <a:rPr lang="en-US" sz="1200" b="1" dirty="0">
                <a:solidFill>
                  <a:schemeClr val="accent1"/>
                </a:solidFill>
              </a:rPr>
              <a:t>THE PYTHON CHECK</a:t>
            </a:r>
            <a:endParaRPr lang="en-US" sz="1200" dirty="0"/>
          </a:p>
        </p:txBody>
      </p:sp>
      <p:sp>
        <p:nvSpPr>
          <p:cNvPr id="16" name="R value"/>
          <p:cNvSpPr txBox="1"/>
          <p:nvPr/>
        </p:nvSpPr>
        <p:spPr>
          <a:xfrm>
            <a:off x="7269480" y="4069080"/>
            <a:ext cx="192024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73.1%</a:t>
            </a:r>
            <a:endParaRPr lang="en-US" sz="3600" dirty="0"/>
          </a:p>
        </p:txBody>
      </p:sp>
      <p:sp>
        <p:nvSpPr>
          <p:cNvPr id="17" name="R label"/>
          <p:cNvSpPr txBox="1"/>
          <p:nvPr/>
        </p:nvSpPr>
        <p:spPr>
          <a:xfrm>
            <a:off x="7269480" y="4846320"/>
            <a:ext cx="1920240" cy="274320"/>
          </a:xfrm>
          <a:prstGeom prst="rect">
            <a:avLst/>
          </a:prstGeom>
          <a:noFill/>
          <a:ln/>
        </p:spPr>
        <p:txBody>
          <a:bodyPr wrap="square" lIns="0" tIns="0" rIns="0" bIns="0" rtlCol="0" anchor="ctr"/>
          <a:lstStyle/>
          <a:p>
            <a:pPr indent="0" marL="0">
              <a:buNone/>
            </a:pPr>
            <a:r>
              <a:rPr lang="en-US" sz="1300" dirty="0">
                <a:solidFill>
                  <a:schemeClr val="accent3"/>
                </a:solidFill>
              </a:rPr>
              <a:t>R</a:t>
            </a:r>
            <a:endParaRPr lang="en-US" sz="1300" dirty="0"/>
          </a:p>
        </p:txBody>
      </p:sp>
      <p:sp>
        <p:nvSpPr>
          <p:cNvPr id="18" name="Python value"/>
          <p:cNvSpPr txBox="1"/>
          <p:nvPr/>
        </p:nvSpPr>
        <p:spPr>
          <a:xfrm>
            <a:off x="9326880" y="4069080"/>
            <a:ext cx="210312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73.1%</a:t>
            </a:r>
            <a:endParaRPr lang="en-US" sz="3600" dirty="0"/>
          </a:p>
        </p:txBody>
      </p:sp>
      <p:sp>
        <p:nvSpPr>
          <p:cNvPr id="19" name="Python label"/>
          <p:cNvSpPr txBox="1"/>
          <p:nvPr/>
        </p:nvSpPr>
        <p:spPr>
          <a:xfrm>
            <a:off x="9326880" y="4846320"/>
            <a:ext cx="2103120" cy="274320"/>
          </a:xfrm>
          <a:prstGeom prst="rect">
            <a:avLst/>
          </a:prstGeom>
          <a:noFill/>
          <a:ln/>
        </p:spPr>
        <p:txBody>
          <a:bodyPr wrap="square" lIns="0" tIns="0" rIns="0" bIns="0" rtlCol="0" anchor="ctr"/>
          <a:lstStyle/>
          <a:p>
            <a:pPr indent="0" marL="0">
              <a:buNone/>
            </a:pPr>
            <a:r>
              <a:rPr lang="en-US" sz="1300" dirty="0">
                <a:solidFill>
                  <a:schemeClr val="accent3"/>
                </a:solidFill>
              </a:rPr>
              <a:t>Python</a:t>
            </a:r>
            <a:endParaRPr lang="en-US" sz="1300" dirty="0"/>
          </a:p>
        </p:txBody>
      </p:sp>
      <p:sp>
        <p:nvSpPr>
          <p:cNvPr id="20" name="Check note"/>
          <p:cNvSpPr txBox="1"/>
          <p:nvPr/>
        </p:nvSpPr>
        <p:spPr>
          <a:xfrm>
            <a:off x="7269480" y="5212080"/>
            <a:ext cx="4160520" cy="502920"/>
          </a:xfrm>
          <a:prstGeom prst="rect">
            <a:avLst/>
          </a:prstGeom>
          <a:noFill/>
          <a:ln/>
        </p:spPr>
        <p:txBody>
          <a:bodyPr wrap="square" lIns="0" tIns="0" rIns="0" bIns="0" rtlCol="0" anchor="t"/>
          <a:lstStyle/>
          <a:p>
            <a:pPr indent="0" marL="0">
              <a:buNone/>
            </a:pPr>
            <a:r>
              <a:rPr lang="en-US" sz="1400" dirty="0">
                <a:solidFill>
                  <a:schemeClr val="tx1"/>
                </a:solidFill>
              </a:rPr>
              <a:t>Women aged 15–19. Band tables agree to one decimal.</a:t>
            </a:r>
            <a:endParaRPr lang="en-US" sz="1400" dirty="0"/>
          </a:p>
        </p:txBody>
      </p:sp>
      <p:sp>
        <p:nvSpPr>
          <p:cNvPr id="22" name="Text 0"/>
          <p:cNvSpPr/>
          <p:nvPr>
            <p:ph idx="100" type="title" hasCustomPrompt="1"/>
          </p:nvPr>
        </p:nvSpPr>
        <p:spPr>
          <a:xfrm>
            <a:off x="548640" y="822960"/>
            <a:ext cx="5303520" cy="164592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Rural Punjab">
  <a:themeElements>
    <a:clrScheme name="Rural Punjab">
      <a:dk1>
        <a:srgbClr val="1B2A24"/>
      </a:dk1>
      <a:lt1>
        <a:srgbClr val="FFFFFF"/>
      </a:lt1>
      <a:dk2>
        <a:srgbClr val="0F3D2E"/>
      </a:dk2>
      <a:lt2>
        <a:srgbClr val="EAF1ED"/>
      </a:lt2>
      <a:accent1>
        <a:srgbClr val="287A55"/>
      </a:accent1>
      <a:accent2>
        <a:srgbClr val="E3A21A"/>
      </a:accent2>
      <a:accent3>
        <a:srgbClr val="737373"/>
      </a:accent3>
      <a:accent4>
        <a:srgbClr val="6FA58B"/>
      </a:accent4>
      <a:accent5>
        <a:srgbClr val="B5483A"/>
      </a:accent5>
      <a:accent6>
        <a:srgbClr val="3C6E91"/>
      </a:accent6>
      <a:hlink>
        <a:srgbClr val="287A55"/>
      </a:hlink>
      <a:folHlink>
        <a:srgbClr val="737373"/>
      </a:folHlink>
    </a:clrScheme>
    <a:fontScheme name="Rural Punj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ECO346 Assignment 1 - FA24-BEDS-008</dc:title>
  <dc:subject>PptxGenJS Presentation</dc:subject>
  <dc:creator>Afifa Farooq</dc:creator>
  <cp:lastModifiedBy>Afifa Farooq</cp:lastModifiedBy>
  <cp:revision>1</cp:revision>
  <dcterms:created xsi:type="dcterms:W3CDTF">2026-10-24T14:59:05Z</dcterms:created>
  <dcterms:modified xsi:type="dcterms:W3CDTF">2026-10-24T14:59:05Z</dcterms:modified>
</cp:coreProperties>
</file>